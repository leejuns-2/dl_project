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64" r:id="rId3"/>
  </p:sldMasterIdLst>
  <p:notesMasterIdLst>
    <p:notesMasterId r:id="rId5"/>
  </p:notesMasterIdLst>
  <p:sldIdLst>
    <p:sldId id="256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notesMasterIdLst/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3" Type="http://schemas.openxmlformats.org/officeDocument/2006/relationships/slideMaster" Target="slideMasters/slideMaster1.xml"></Relationship><Relationship Id="rId4" Type="http://schemas.openxmlformats.org/officeDocument/2006/relationships/theme" Target="theme/theme1.xml"></Relationship><Relationship Id="rId5" Type="http://schemas.openxmlformats.org/officeDocument/2006/relationships/notesMaster" Target="notesMasters/notesMaster1.xml"></Relationship><Relationship Id="rId7" Type="http://schemas.openxmlformats.org/officeDocument/2006/relationships/slide" Target="slides/slide1.xml"></Relationship><Relationship Id="rId8" Type="http://schemas.openxmlformats.org/officeDocument/2006/relationships/slide" Target="slides/slide2.xml"></Relationship><Relationship Id="rId9" Type="http://schemas.openxmlformats.org/officeDocument/2006/relationships/slide" Target="slides/slide3.xml"></Relationship><Relationship Id="rId10" Type="http://schemas.openxmlformats.org/officeDocument/2006/relationships/slide" Target="slides/slide4.xml"></Relationship><Relationship Id="rId11" Type="http://schemas.openxmlformats.org/officeDocument/2006/relationships/slide" Target="slides/slide5.xml"></Relationship><Relationship Id="rId12" Type="http://schemas.openxmlformats.org/officeDocument/2006/relationships/slide" Target="slides/slide6.xml"></Relationship><Relationship Id="rId13" Type="http://schemas.openxmlformats.org/officeDocument/2006/relationships/slide" Target="slides/slide7.xml"></Relationship><Relationship Id="rId14" Type="http://schemas.openxmlformats.org/officeDocument/2006/relationships/slide" Target="slides/slide8.xml"></Relationship><Relationship Id="rId15" Type="http://schemas.openxmlformats.org/officeDocument/2006/relationships/slide" Target="slides/slide9.xml"></Relationship><Relationship Id="rId16" Type="http://schemas.openxmlformats.org/officeDocument/2006/relationships/slide" Target="slides/slide10.xml"></Relationship><Relationship Id="rId26" Type="http://schemas.openxmlformats.org/officeDocument/2006/relationships/viewProps" Target="viewProps.xml"></Relationship><Relationship Id="rId27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3" Type="http://schemas.openxmlformats.org/officeDocument/2006/relationships/notesSlide" Target="../notesSlides/notesSlide1.xml"></Relationship><Relationship Id="rId4" Type="http://schemas.openxmlformats.org/officeDocument/2006/relationships/image" Target="../media/fImage27678222241.png"></Relationship><Relationship Id="rId5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3" Type="http://schemas.openxmlformats.org/officeDocument/2006/relationships/notesSlide" Target="../notesSlides/notesSlide2.xml"></Relationship><Relationship Id="rId4" Type="http://schemas.openxmlformats.org/officeDocument/2006/relationships/image" Target="../media/fImage4239352248467.png"></Relationship><Relationship Id="rId5" Type="http://schemas.openxmlformats.org/officeDocument/2006/relationships/slideLayout" Target="../slideLayouts/slideLayout1.xml"></Relationship></Relationships>
</file>

<file path=ppt/slides/_rels/slide3.xml.rels><?xml version="1.0" encoding="UTF-8"?>
<Relationships xmlns="http://schemas.openxmlformats.org/package/2006/relationships"><Relationship Id="rId3" Type="http://schemas.openxmlformats.org/officeDocument/2006/relationships/notesSlide" Target="../notesSlides/notesSlide3.xml"></Relationship><Relationship Id="rId4" Type="http://schemas.openxmlformats.org/officeDocument/2006/relationships/image" Target="../media/fImage70434119841.png"></Relationship><Relationship Id="rId5" Type="http://schemas.openxmlformats.org/officeDocument/2006/relationships/slideLayout" Target="../slideLayouts/slideLayout1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notesSlide" Target="../notesSlides/notesSlide4.xml"></Relationship><Relationship Id="rId3" Type="http://schemas.openxmlformats.org/officeDocument/2006/relationships/slideLayout" Target="../slideLayouts/slideLayout1.xml"></Relationship></Relationships>
</file>

<file path=ppt/slides/_rels/slide5.xml.rels><?xml version="1.0" encoding="UTF-8"?>
<Relationships xmlns="http://schemas.openxmlformats.org/package/2006/relationships"><Relationship Id="rId4" Type="http://schemas.openxmlformats.org/officeDocument/2006/relationships/notesSlide" Target="../notesSlides/notesSlide5.xml"></Relationship><Relationship Id="rId5" Type="http://schemas.openxmlformats.org/officeDocument/2006/relationships/image" Target="../media/fImage4239352256334.png"></Relationship><Relationship Id="rId6" Type="http://schemas.openxmlformats.org/officeDocument/2006/relationships/image" Target="../media/fImage4254952286500.png"></Relationship><Relationship Id="rId7" Type="http://schemas.openxmlformats.org/officeDocument/2006/relationships/image" Target="../media/fImage3084022299169.png"></Relationship><Relationship Id="rId8" Type="http://schemas.openxmlformats.org/officeDocument/2006/relationships/slideLayout" Target="../slideLayouts/slideLayout1.xml"></Relationship></Relationships>
</file>

<file path=ppt/slides/_rels/slide6.xml.rels><?xml version="1.0" encoding="UTF-8"?>
<Relationships xmlns="http://schemas.openxmlformats.org/package/2006/relationships"><Relationship Id="rId4" Type="http://schemas.openxmlformats.org/officeDocument/2006/relationships/notesSlide" Target="../notesSlides/notesSlide6.xml"></Relationship><Relationship Id="rId5" Type="http://schemas.openxmlformats.org/officeDocument/2006/relationships/image" Target="../media/fImage3084022315724.png"></Relationship><Relationship Id="rId6" Type="http://schemas.openxmlformats.org/officeDocument/2006/relationships/image" Target="../media/fImage3084022321478.png"></Relationship><Relationship Id="rId7" Type="http://schemas.openxmlformats.org/officeDocument/2006/relationships/slideLayout" Target="../slideLayouts/slideLayout1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image" Target="../media/image-8-1.png"></Relationship><Relationship Id="rId4" Type="http://schemas.openxmlformats.org/officeDocument/2006/relationships/notesSlide" Target="../notesSlides/notesSlide7.xml"></Relationship><Relationship Id="rId6" Type="http://schemas.openxmlformats.org/officeDocument/2006/relationships/image" Target="../media/fImage118528620341.png"></Relationship><Relationship Id="rId7" Type="http://schemas.openxmlformats.org/officeDocument/2006/relationships/slideLayout" Target="../slideLayouts/slideLayout1.xml"></Relationship></Relationships>
</file>

<file path=ppt/slides/_rels/slide8.xml.rels><?xml version="1.0" encoding="UTF-8"?>
<Relationships xmlns="http://schemas.openxmlformats.org/package/2006/relationships"><Relationship Id="rId5" Type="http://schemas.openxmlformats.org/officeDocument/2006/relationships/notesSlide" Target="../notesSlides/notesSlide8.xml"></Relationship><Relationship Id="rId6" Type="http://schemas.openxmlformats.org/officeDocument/2006/relationships/image" Target="../media/fImage4628582346962.png"></Relationship><Relationship Id="rId7" Type="http://schemas.openxmlformats.org/officeDocument/2006/relationships/image" Target="../media/fImage625872354464.png"></Relationship><Relationship Id="rId8" Type="http://schemas.openxmlformats.org/officeDocument/2006/relationships/image" Target="../media/fImage743232365705.png"></Relationship><Relationship Id="rId9" Type="http://schemas.openxmlformats.org/officeDocument/2006/relationships/slideLayout" Target="../slideLayouts/slideLayout1.xml"></Relationship></Relationships>
</file>

<file path=ppt/slides/_rels/slide9.xml.rels><?xml version="1.0" encoding="UTF-8"?>
<Relationships xmlns="http://schemas.openxmlformats.org/package/2006/relationships"><Relationship Id="rId3" Type="http://schemas.openxmlformats.org/officeDocument/2006/relationships/notesSlide" Target="../notesSlides/notesSlide9.xml"></Relationship><Relationship Id="rId4" Type="http://schemas.openxmlformats.org/officeDocument/2006/relationships/image" Target="../media/fImage1443722378145.png"></Relationship><Relationship Id="rId5" Type="http://schemas.openxmlformats.org/officeDocument/2006/relationships/slideLayout" Target="../slideLayouts/slideLayout1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3201035" cy="16510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65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Deep Learning Project</a:t>
            </a:r>
            <a:endParaRPr lang="ko-KR" altLang="en-US" sz="65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graphicFrame>
        <p:nvGraphicFramePr>
          <p:cNvPr id="2" name="Text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02920"/>
          <a:ext cx="3201035" cy="165100"/>
        </p:xfrm>
        <a:graphic>
          <a:graphicData uri="http://schemas.openxmlformats.org/drawingml/2006/table">
            <a:tbl>
              <a:tblPr/>
              <a:tblGrid>
                <a:gridCol w="2606040"/>
                <a:gridCol w="2606040"/>
              </a:tblGrid>
              <a:tr h="240030">
                <a:tc>
                  <p:txBody>
                    <a:bodyPr wrap="square" lIns="0" tIns="0" rIns="0" bIns="0" numCol="1" vert="horz" anchor="ctr">
                      <a:noAutofit/>
                    </a:bodyPr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650">
                          <a:solidFill>
                            <a:srgbClr val="666666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Deep Learning Project</a:t>
                      </a:r>
                      <a:endParaRPr lang="ko-KR" altLang="en-US" sz="650">
                        <a:solidFill>
                          <a:srgbClr val="666666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p:txBody>
                </a:tc>
              </a:tr>
            </a:tbl>
          </a:graphicData>
        </a:graphic>
      </p:graphicFrame>
      <p:sp>
        <p:nvSpPr>
          <p:cNvPr id="3" name="Text 1"/>
          <p:cNvSpPr>
            <a:spLocks/>
          </p:cNvSpPr>
          <p:nvPr/>
        </p:nvSpPr>
        <p:spPr>
          <a:xfrm>
            <a:off x="411480" y="1143000"/>
            <a:ext cx="3751580" cy="105346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2800" b="1">
                <a:solidFill>
                  <a:srgbClr val="111111"/>
                </a:solidFill>
                <a:latin typeface="나눔명조 ExtraBold" charset="0"/>
                <a:ea typeface="나눔명조 ExtraBold" charset="0"/>
                <a:cs typeface="Malgun Gothic" charset="0"/>
              </a:rPr>
              <a:t>에너지 PDF 보고서 기반</a:t>
            </a:r>
            <a:endParaRPr lang="ko-KR" altLang="en-US" sz="2800" b="1">
              <a:solidFill>
                <a:srgbClr val="111111"/>
              </a:solidFill>
              <a:latin typeface="나눔명조 ExtraBold" charset="0"/>
              <a:ea typeface="나눔명조 ExtraBold" charset="0"/>
              <a:cs typeface="Malgun Gothic" charset="0"/>
            </a:endParaRPr>
          </a:p>
          <a:p>
            <a:pPr marL="0" indent="0">
              <a:buFontTx/>
              <a:buNone/>
            </a:pPr>
            <a:r>
              <a:rPr lang="en-US" sz="2800" b="1">
                <a:solidFill>
                  <a:srgbClr val="111111"/>
                </a:solidFill>
                <a:latin typeface="나눔명조 ExtraBold" charset="0"/>
                <a:ea typeface="나눔명조 ExtraBold" charset="0"/>
                <a:cs typeface="Malgun Gothic" charset="0"/>
              </a:rPr>
              <a:t>Theme Signal Analyzer</a:t>
            </a:r>
            <a:endParaRPr lang="ko-KR" altLang="en-US" sz="2800" b="1">
              <a:solidFill>
                <a:srgbClr val="111111"/>
              </a:solidFill>
              <a:latin typeface="나눔명조 ExtraBold" charset="0"/>
              <a:ea typeface="나눔명조 ExtraBold" charset="0"/>
              <a:cs typeface="Malgun Gothic" charset="0"/>
            </a:endParaRPr>
          </a:p>
        </p:txBody>
      </p:sp>
      <p:sp>
        <p:nvSpPr>
          <p:cNvPr id="4" name="Text 2"/>
          <p:cNvSpPr>
            <a:spLocks/>
          </p:cNvSpPr>
          <p:nvPr/>
        </p:nvSpPr>
        <p:spPr>
          <a:xfrm rot="0">
            <a:off x="411480" y="2150745"/>
            <a:ext cx="6169025" cy="1176655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 algn="l">
              <a:buFontTx/>
              <a:buNone/>
            </a:pPr>
            <a:r>
              <a:rPr sz="1400" b="0">
                <a:solidFill>
                  <a:schemeClr val="bg1">
                    <a:lumMod val="50000"/>
                    <a:lumOff val="0"/>
                  </a:schemeClr>
                </a:solidFill>
                <a:latin typeface="나눔명조" charset="0"/>
                <a:ea typeface="나눔명조" charset="0"/>
              </a:rPr>
              <a:t>MiniLM-L6-v2 frozen encoder + supervised logistic linear probe</a:t>
            </a:r>
            <a:endParaRPr lang="ko-KR" altLang="en-US" sz="1400" b="0">
              <a:solidFill>
                <a:schemeClr val="bg1">
                  <a:lumMod val="50000"/>
                  <a:lumOff val="0"/>
                </a:schemeClr>
              </a:solidFill>
              <a:latin typeface="나눔명조" charset="0"/>
              <a:ea typeface="나눔명조" charset="0"/>
            </a:endParaRPr>
          </a:p>
          <a:p>
            <a:pPr marL="0" indent="0" algn="l">
              <a:buFontTx/>
              <a:buNone/>
            </a:pPr>
            <a:r>
              <a:rPr sz="1400" b="0">
                <a:solidFill>
                  <a:schemeClr val="bg1">
                    <a:lumMod val="50000"/>
                    <a:lumOff val="0"/>
                  </a:schemeClr>
                </a:solidFill>
                <a:latin typeface="나눔명조" charset="0"/>
                <a:ea typeface="나눔명조" charset="0"/>
              </a:rPr>
              <a:t>Evidence-grounded topic salience and historical context MVP</a:t>
            </a:r>
            <a:endParaRPr lang="ko-KR" altLang="en-US" sz="1400" b="0">
              <a:solidFill>
                <a:schemeClr val="bg1">
                  <a:lumMod val="50000"/>
                  <a:lumOff val="0"/>
                </a:schemeClr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8" name="Text 4"/>
          <p:cNvSpPr>
            <a:spLocks/>
          </p:cNvSpPr>
          <p:nvPr/>
        </p:nvSpPr>
        <p:spPr>
          <a:xfrm rot="0">
            <a:off x="5257800" y="5944870"/>
            <a:ext cx="4986020" cy="18542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sz="72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Interactive</a:t>
            </a:r>
            <a:r>
              <a:rPr lang="ko-KR" sz="72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 </a:t>
            </a:r>
            <a:r>
              <a:rPr lang="ko-KR" sz="72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Web</a:t>
            </a:r>
            <a:r>
              <a:rPr lang="ko-KR" sz="72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 </a:t>
            </a:r>
            <a:r>
              <a:rPr lang="ko-KR" sz="72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MVP</a:t>
            </a:r>
            <a:endParaRPr lang="ko-KR" altLang="en-US" sz="72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9" name="Text 5"/>
          <p:cNvSpPr>
            <a:spLocks/>
          </p:cNvSpPr>
          <p:nvPr/>
        </p:nvSpPr>
        <p:spPr>
          <a:xfrm rot="0">
            <a:off x="163830" y="6510020"/>
            <a:ext cx="2012315" cy="183515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75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이준서 · 2026.06</a:t>
            </a:r>
            <a:endParaRPr lang="ko-KR" altLang="en-US" sz="75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0" name="Text 6"/>
          <p:cNvSpPr>
            <a:spLocks/>
          </p:cNvSpPr>
          <p:nvPr/>
        </p:nvSpPr>
        <p:spPr>
          <a:xfrm rot="0">
            <a:off x="9633585" y="6607175"/>
            <a:ext cx="3383915" cy="183515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66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No forecasting · No investment advice · Historical context only</a:t>
            </a:r>
            <a:endParaRPr lang="ko-KR" altLang="en-US" sz="66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pic>
        <p:nvPicPr>
          <p:cNvPr id="11" name="그림 1" descr="C:/Users/이준서/AppData/Roaming/PolarisOffice/ETemp/14292_9359400/fImage27678222241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693"/>
          <a:stretch>
            <a:fillRect/>
          </a:stretch>
        </p:blipFill>
        <p:spPr>
          <a:xfrm rot="0">
            <a:off x="5255895" y="2849245"/>
            <a:ext cx="6733540" cy="299593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138795" cy="34798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21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문제 정의: 긴 PDF를 근거 추적 가능한 신호로 바꾸기</a:t>
            </a:r>
            <a:endParaRPr lang="ko-KR" altLang="en-US" sz="21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713105"/>
            <a:ext cx="9601835" cy="20193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82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보고서 전체 요약이 아니라 문단 단위 근거와 테마 점수를 함께 남기는 것이 목표입니다.</a:t>
            </a:r>
            <a:endParaRPr lang="ko-KR" altLang="en-US" sz="82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987425"/>
            <a:ext cx="11293475" cy="635"/>
          </a:xfrm>
          <a:prstGeom prst="line">
            <a:avLst/>
          </a:prstGeom>
          <a:noFill/>
          <a:ln w="7620">
            <a:solidFill>
              <a:srgbClr val="BDBDBD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>
            <a:spLocks/>
          </p:cNvSpPr>
          <p:nvPr/>
        </p:nvSpPr>
        <p:spPr>
          <a:xfrm>
            <a:off x="413385" y="5081270"/>
            <a:ext cx="4710430" cy="18415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72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웹 입력 패널: PDF, 제목, 발행기관, 보고서 날짜</a:t>
            </a:r>
            <a:endParaRPr lang="ko-KR" altLang="en-US" sz="72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8" name="Text 5"/>
          <p:cNvSpPr>
            <a:spLocks/>
          </p:cNvSpPr>
          <p:nvPr/>
        </p:nvSpPr>
        <p:spPr>
          <a:xfrm rot="0">
            <a:off x="5715000" y="1501775"/>
            <a:ext cx="3063875" cy="28575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12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PDF 보고서의 어려움</a:t>
            </a:r>
            <a:endParaRPr lang="ko-KR" altLang="en-US" sz="12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9" name="Text 6"/>
          <p:cNvSpPr>
            <a:spLocks/>
          </p:cNvSpPr>
          <p:nvPr/>
        </p:nvSpPr>
        <p:spPr>
          <a:xfrm>
            <a:off x="5715000" y="1783080"/>
            <a:ext cx="5922010" cy="113919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12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• 에너지 전환 보고서는 수십~수백 페이지의 비정형 PDF로 제공됨</a:t>
            </a:r>
            <a:endParaRPr lang="ko-KR" altLang="en-US" sz="1200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  <a:p>
            <a:pPr marL="0" indent="0">
              <a:buFontTx/>
              <a:buNone/>
            </a:pPr>
            <a:r>
              <a:rPr lang="en-US" sz="12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• 전체 요약만으로는 어떤 문단이 판단 근거인지 확인하기 어려움</a:t>
            </a:r>
            <a:endParaRPr lang="ko-KR" altLang="en-US" sz="1200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  <a:p>
            <a:pPr marL="0" indent="0">
              <a:buFontTx/>
              <a:buNone/>
            </a:pPr>
            <a:r>
              <a:rPr lang="en-US" sz="12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• 여러 보고서의 주제 방향을 일관된 기준으로 비교하기 어려움</a:t>
            </a:r>
            <a:endParaRPr lang="ko-KR" altLang="en-US" sz="1200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715000" y="2971800"/>
            <a:ext cx="5121275" cy="635"/>
          </a:xfrm>
          <a:prstGeom prst="line">
            <a:avLst/>
          </a:prstGeom>
          <a:noFill/>
          <a:ln w="889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>
            <a:spLocks/>
          </p:cNvSpPr>
          <p:nvPr/>
        </p:nvSpPr>
        <p:spPr>
          <a:xfrm rot="0">
            <a:off x="5715000" y="3246120"/>
            <a:ext cx="3063240" cy="285115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12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프로젝트 목표</a:t>
            </a:r>
            <a:endParaRPr lang="ko-KR" altLang="en-US" sz="12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15000" y="3611880"/>
            <a:ext cx="5166995" cy="640715"/>
          </a:xfrm>
          <a:prstGeom prst="rect">
            <a:avLst/>
          </a:prstGeom>
          <a:noFill/>
          <a:ln/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endParaRPr lang="ko-KR" altLang="en-US" sz="930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3" name="Text 10"/>
          <p:cNvSpPr>
            <a:spLocks/>
          </p:cNvSpPr>
          <p:nvPr/>
        </p:nvSpPr>
        <p:spPr>
          <a:xfrm rot="0">
            <a:off x="5715000" y="4285615"/>
            <a:ext cx="5167630" cy="23876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85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범위: 미래 예측이 아니라, 보고서 날짜 주변의 historical context를 탐색적으로 연결합니다.</a:t>
            </a:r>
            <a:endParaRPr lang="ko-KR" altLang="en-US" sz="85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1480" y="6565265"/>
            <a:ext cx="457263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Problem definition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475720" y="6565265"/>
            <a:ext cx="32067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r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03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pic>
        <p:nvPicPr>
          <p:cNvPr id="16" name="그림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" t="18722" r="59072" b="23311"/>
          <a:stretch>
            <a:fillRect/>
          </a:stretch>
        </p:blipFill>
        <p:spPr>
          <a:xfrm>
            <a:off x="411480" y="1427480"/>
            <a:ext cx="4990465" cy="3563620"/>
          </a:xfrm>
          <a:prstGeom prst="rect"/>
          <a:noFill/>
        </p:spPr>
      </p:pic>
      <p:sp>
        <p:nvSpPr>
          <p:cNvPr id="17" name="텍스트 상자 2"/>
          <p:cNvSpPr txBox="1">
            <a:spLocks/>
          </p:cNvSpPr>
          <p:nvPr/>
        </p:nvSpPr>
        <p:spPr>
          <a:xfrm rot="0">
            <a:off x="5715000" y="3482975"/>
            <a:ext cx="6698615" cy="554990"/>
          </a:xfrm>
          <a:prstGeom prst="rect"/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PDF paragraphs are converted into MiniLM-L6-v2 384-d semantic vectors.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Theme score = topic salience in retrieved evidence, not bullish/bearish market direction.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The market window is attached only as historical context, not as model input or forecast.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138795" cy="34798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21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1. 알고리즘 개요</a:t>
            </a:r>
            <a:endParaRPr lang="ko-KR" altLang="en-US" sz="21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713105"/>
            <a:ext cx="9602470" cy="20256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Frozen MiniLM-L6-v2 embeddings are reused as foundation representations. Only four small logistic heads are trained from curated examples.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987425"/>
            <a:ext cx="11293475" cy="635"/>
          </a:xfrm>
          <a:prstGeom prst="line">
            <a:avLst/>
          </a:prstGeom>
          <a:noFill/>
          <a:ln w="7620">
            <a:solidFill>
              <a:srgbClr val="BDBDBD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508760"/>
            <a:ext cx="1006475" cy="567690"/>
          </a:xfrm>
          <a:prstGeom prst="rect">
            <a:avLst>
              <a:gd name="adj" fmla="val 6452"/>
            </a:avLst>
          </a:prstGeom>
          <a:solidFill>
            <a:srgbClr val="FFFFFF"/>
          </a:solidFill>
          <a:ln w="11430">
            <a:solidFill>
              <a:srgbClr val="BDBDBD"/>
            </a:solidFill>
            <a:prstDash val="solid"/>
          </a:ln>
        </p:spPr>
        <p:txBody>
          <a:bodyPr/>
          <a:p/>
        </p:txBody>
      </p:sp>
      <p:graphicFrame>
        <p:nvGraphicFramePr>
          <p:cNvPr id="5" name="Shap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006475" cy="567690"/>
        </p:xfrm>
        <a:graphic>
          <a:graphicData uri="http://schemas.openxmlformats.org/drawingml/2006/table">
            <a:tbl>
              <a:tblPr/>
              <a:tblGrid>
                <a:gridCol w="2583180"/>
                <a:gridCol w="2583180"/>
              </a:tblGrid>
              <a:tr h="301752">
                <a:tc>
                  <p:txBody>
                    <a:bodyPr wrap="square" lIns="0" tIns="0" rIns="0" bIns="0" vert="horz" anchor="t">
                      <a:noAutofit/>
                    </a:bodyPr>
                    <a:lstStyle/>
                    <a:p>
                      <a:pPr marL="0" indent="0"/>
                      <a:endParaRPr lang="ko-KR" altLang="en-US" sz="2200">
                        <a:latin typeface="나눔명조" charset="0"/>
                        <a:ea typeface="나눔명조" charset="0"/>
                      </a:endParaRPr>
                    </a:p>
                  </p:txBody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640080" y="1581785"/>
            <a:ext cx="915035" cy="4210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PDF</a:t>
            </a:r>
            <a:endParaRPr lang="ko-KR" altLang="en-US" sz="10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  <a:p>
            <a:pPr marL="0" indent="0" algn="ctr">
              <a:buFontTx/>
              <a:buNone/>
            </a:pPr>
            <a:r>
              <a:rPr lang="en-US" sz="10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report</a:t>
            </a:r>
            <a:endParaRPr lang="ko-KR" altLang="en-US" sz="10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00200" y="1791970"/>
            <a:ext cx="274955" cy="635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874520" y="1508760"/>
            <a:ext cx="1006475" cy="567690"/>
          </a:xfrm>
          <a:prstGeom prst="rect">
            <a:avLst>
              <a:gd name="adj" fmla="val 6452"/>
            </a:avLst>
          </a:prstGeom>
          <a:solidFill>
            <a:srgbClr val="FFFFFF"/>
          </a:solidFill>
          <a:ln w="11430">
            <a:solidFill>
              <a:srgbClr val="BDBDB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920240" y="1581785"/>
            <a:ext cx="915035" cy="4210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Text</a:t>
            </a:r>
            <a:endParaRPr lang="ko-KR" altLang="en-US" sz="10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  <a:p>
            <a:pPr marL="0" indent="0" algn="ctr">
              <a:buFontTx/>
              <a:buNone/>
            </a:pPr>
            <a:r>
              <a:rPr lang="en-US" sz="10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PyMuPDF</a:t>
            </a:r>
            <a:endParaRPr lang="ko-KR" altLang="en-US" sz="10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80360" y="1791970"/>
            <a:ext cx="366395" cy="635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46120" y="1508760"/>
            <a:ext cx="1006475" cy="567690"/>
          </a:xfrm>
          <a:prstGeom prst="rect">
            <a:avLst>
              <a:gd name="adj" fmla="val 6452"/>
            </a:avLst>
          </a:prstGeom>
          <a:solidFill>
            <a:srgbClr val="FFFFFF"/>
          </a:solidFill>
          <a:ln w="11430">
            <a:solidFill>
              <a:srgbClr val="BDBDB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1581785"/>
            <a:ext cx="915035" cy="4210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Chunks</a:t>
            </a:r>
            <a:endParaRPr lang="ko-KR" altLang="en-US" sz="10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  <a:p>
            <a:pPr marL="0" indent="0" algn="ctr">
              <a:buFontTx/>
              <a:buNone/>
            </a:pPr>
            <a:r>
              <a:rPr lang="en-US" sz="10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paragraphs</a:t>
            </a:r>
            <a:endParaRPr lang="ko-KR" altLang="en-US" sz="10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51960" y="1791970"/>
            <a:ext cx="366395" cy="635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617720" y="1508760"/>
            <a:ext cx="1006475" cy="567690"/>
          </a:xfrm>
          <a:prstGeom prst="rect">
            <a:avLst>
              <a:gd name="adj" fmla="val 6452"/>
            </a:avLst>
          </a:prstGeom>
          <a:solidFill>
            <a:srgbClr val="FFFFFF"/>
          </a:solidFill>
          <a:ln w="11430">
            <a:solidFill>
              <a:srgbClr val="BDBDB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63440" y="1581785"/>
            <a:ext cx="915035" cy="4210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Retrieval</a:t>
            </a:r>
            <a:endParaRPr lang="ko-KR" altLang="en-US" sz="10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  <a:p>
            <a:pPr marL="0" indent="0" algn="ctr">
              <a:buFontTx/>
              <a:buNone/>
            </a:pPr>
            <a:r>
              <a:rPr lang="en-US" sz="10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TF-IDF + MiniLM</a:t>
            </a:r>
            <a:endParaRPr lang="ko-KR" altLang="en-US" sz="10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23560" y="1791970"/>
            <a:ext cx="366395" cy="635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89320" y="1508760"/>
            <a:ext cx="1006475" cy="567690"/>
          </a:xfrm>
          <a:prstGeom prst="rect">
            <a:avLst>
              <a:gd name="adj" fmla="val 6452"/>
            </a:avLst>
          </a:prstGeom>
          <a:solidFill>
            <a:srgbClr val="FFFFFF"/>
          </a:solidFill>
          <a:ln w="11430">
            <a:solidFill>
              <a:srgbClr val="2E6B5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35040" y="1581785"/>
            <a:ext cx="915035" cy="4210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MiniLM</a:t>
            </a:r>
            <a:endParaRPr lang="ko-KR" altLang="en-US" sz="10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  <a:p>
            <a:pPr marL="0" indent="0" algn="ctr">
              <a:buFontTx/>
              <a:buNone/>
            </a:pPr>
            <a:r>
              <a:rPr lang="en-US" sz="10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384-d vector</a:t>
            </a:r>
            <a:endParaRPr lang="ko-KR" altLang="en-US" sz="10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995160" y="1791970"/>
            <a:ext cx="366395" cy="635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60920" y="1508760"/>
            <a:ext cx="1006475" cy="567690"/>
          </a:xfrm>
          <a:prstGeom prst="rect">
            <a:avLst>
              <a:gd name="adj" fmla="val 6452"/>
            </a:avLst>
          </a:prstGeom>
          <a:solidFill>
            <a:srgbClr val="FFFFFF"/>
          </a:solidFill>
          <a:ln w="11430">
            <a:solidFill>
              <a:srgbClr val="B9792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>
            <a:spLocks/>
          </p:cNvSpPr>
          <p:nvPr/>
        </p:nvSpPr>
        <p:spPr>
          <a:xfrm rot="0">
            <a:off x="7454900" y="1624330"/>
            <a:ext cx="819150" cy="37846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sz="1000" b="1">
                <a:solidFill>
                  <a:srgbClr val="20302C"/>
                </a:solidFill>
                <a:latin typeface="나눔명조" charset="0"/>
                <a:ea typeface="나눔명조" charset="0"/>
              </a:rPr>
              <a:t>Heads x4</a:t>
            </a:r>
            <a:endParaRPr lang="ko-KR" altLang="en-US" sz="1000" b="1">
              <a:solidFill>
                <a:srgbClr val="20302C"/>
              </a:solidFill>
              <a:latin typeface="나눔명조" charset="0"/>
              <a:ea typeface="나눔명조" charset="0"/>
            </a:endParaRPr>
          </a:p>
          <a:p>
            <a:pPr marL="0" indent="0" algn="ctr">
              <a:buFontTx/>
              <a:buNone/>
            </a:pPr>
            <a:r>
              <a:rPr sz="1000" b="1">
                <a:solidFill>
                  <a:srgbClr val="20302C"/>
                </a:solidFill>
                <a:latin typeface="나눔명조" charset="0"/>
                <a:ea typeface="나눔명조" charset="0"/>
              </a:rPr>
              <a:t>linear probe</a:t>
            </a:r>
            <a:endParaRPr lang="ko-KR" altLang="en-US" sz="1000" b="1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366760" y="1791970"/>
            <a:ext cx="366395" cy="635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732520" y="1508760"/>
            <a:ext cx="1006475" cy="567690"/>
          </a:xfrm>
          <a:prstGeom prst="rect">
            <a:avLst>
              <a:gd name="adj" fmla="val 6452"/>
            </a:avLst>
          </a:prstGeom>
          <a:solidFill>
            <a:srgbClr val="FFFFFF"/>
          </a:solidFill>
          <a:ln w="11430">
            <a:solidFill>
              <a:srgbClr val="BDBDB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778240" y="1581785"/>
            <a:ext cx="915035" cy="4210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Scores</a:t>
            </a:r>
            <a:endParaRPr lang="ko-KR" altLang="en-US" sz="10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  <a:p>
            <a:pPr marL="0" indent="0" algn="ctr">
              <a:buFontTx/>
              <a:buNone/>
            </a:pPr>
            <a:r>
              <a:rPr lang="en-US" sz="10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4 themes</a:t>
            </a:r>
            <a:endParaRPr lang="ko-KR" altLang="en-US" sz="10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738360" y="1791970"/>
            <a:ext cx="366395" cy="635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104120" y="1508760"/>
            <a:ext cx="1006475" cy="567690"/>
          </a:xfrm>
          <a:prstGeom prst="rect">
            <a:avLst>
              <a:gd name="adj" fmla="val 6452"/>
            </a:avLst>
          </a:prstGeom>
          <a:solidFill>
            <a:srgbClr val="FFFFFF"/>
          </a:solidFill>
          <a:ln w="11430">
            <a:solidFill>
              <a:srgbClr val="BDBDB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149840" y="1581785"/>
            <a:ext cx="915035" cy="4210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0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Context</a:t>
            </a:r>
            <a:endParaRPr lang="ko-KR" altLang="en-US" sz="10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  <a:p>
            <a:pPr marL="0" indent="0" algn="ctr">
              <a:buFontTx/>
              <a:buNone/>
            </a:pPr>
            <a:r>
              <a:rPr lang="en-US" sz="10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date join</a:t>
            </a:r>
            <a:endParaRPr lang="ko-KR" altLang="en-US" sz="10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5800" y="2788920"/>
            <a:ext cx="1372235" cy="229235"/>
          </a:xfrm>
          <a:prstGeom prst="rect">
            <a:avLst/>
          </a:prstGeom>
          <a:noFill/>
          <a:ln/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105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수식 </a:t>
            </a:r>
            <a:endParaRPr lang="ko-KR" altLang="en-US" sz="105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85800" y="3154680"/>
            <a:ext cx="5304155" cy="1509395"/>
          </a:xfrm>
          <a:prstGeom prst="rect">
            <a:avLst/>
          </a:prstGeom>
          <a:solidFill>
            <a:srgbClr val="FFFFFF"/>
          </a:solidFill>
          <a:ln w="1016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>
            <a:spLocks/>
          </p:cNvSpPr>
          <p:nvPr/>
        </p:nvSpPr>
        <p:spPr>
          <a:xfrm rot="0">
            <a:off x="685800" y="4826635"/>
            <a:ext cx="10430510" cy="622935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Why four binary heads?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Energy reports can discuss renewable, fossil, grid, and climate themes together. Independent heads estimate p(theme | paragraph), while a softmax would force one exclusive class.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411480" y="6565265"/>
            <a:ext cx="457263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Algorithm overview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11475720" y="6565265"/>
            <a:ext cx="32067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r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04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37" name="Text 37"/>
          <p:cNvSpPr txBox="1">
            <a:spLocks/>
          </p:cNvSpPr>
          <p:nvPr/>
        </p:nvSpPr>
        <p:spPr>
          <a:xfrm rot="0">
            <a:off x="676275" y="5739765"/>
            <a:ext cx="10801350" cy="63119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Aggregation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For each theme, the top 30% evidence probabilities are averaged and min-max scaled across themes.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Scores are relative topic-salience scores, not calibrated probabilities.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pic>
        <p:nvPicPr>
          <p:cNvPr id="38" name="그림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52195" y="3181350"/>
            <a:ext cx="4391660" cy="146367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138795" cy="34798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21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2. 전체 알고리즘 파이프라인과 모델별 입출력</a:t>
            </a:r>
            <a:endParaRPr lang="ko-KR" altLang="en-US" sz="21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3" name="Text 1"/>
          <p:cNvSpPr>
            <a:spLocks/>
          </p:cNvSpPr>
          <p:nvPr/>
        </p:nvSpPr>
        <p:spPr>
          <a:xfrm rot="0">
            <a:off x="411480" y="713105"/>
            <a:ext cx="11334115" cy="37020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11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Role separation: MiniLM supplies frozen paragraph embeddings; logistic heads learn theme salience; OOD/mixed rules decide review status; market data is joined only after scoring.</a:t>
            </a:r>
            <a:endParaRPr lang="ko-KR" altLang="en-US" sz="11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cxnSp>
        <p:nvCxnSpPr>
          <p:cNvPr id="4" name="Shape 2"/>
          <p:cNvCxnSpPr/>
          <p:nvPr/>
        </p:nvCxnSpPr>
        <p:spPr>
          <a:xfrm rot="0">
            <a:off x="405130" y="987425"/>
            <a:ext cx="11294110" cy="1270"/>
          </a:xfrm>
          <a:prstGeom prst="line"/>
          <a:noFill/>
          <a:ln w="7620" cap="flat" cmpd="sng">
            <a:solidFill>
              <a:srgbClr val="BDBDBD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94360" y="1185545"/>
          <a:ext cx="11017250" cy="458597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2203450"/>
                <a:gridCol w="2203450"/>
                <a:gridCol w="2203450"/>
                <a:gridCol w="2203450"/>
                <a:gridCol w="2203450"/>
              </a:tblGrid>
              <a:tr h="554355">
                <a:tc>
                  <a:txBody>
                    <a:bodyPr/>
                    <a:lstStyle/>
                    <a:p>
                      <a:pPr marL="0" indent="0" algn="l" lvl="1">
                        <a:buFontTx/>
                        <a:buNone/>
                      </a:pPr>
                      <a:r>
                        <a:rPr lang="en-US" sz="1100" kern="1200" i="0" b="1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단계</a:t>
                      </a:r>
                      <a:endParaRPr lang="ko-KR" altLang="en-US" sz="1100" kern="1200" i="0" b="1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vl="1">
                        <a:buFontTx/>
                        <a:buNone/>
                      </a:pPr>
                      <a:r>
                        <a:rPr lang="en-US" sz="1100" kern="1200" i="0" b="1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사용 방법 / 모델</a:t>
                      </a:r>
                      <a:endParaRPr lang="ko-KR" altLang="en-US" sz="1100" kern="1200" i="0" b="1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vl="1">
                        <a:buFontTx/>
                        <a:buNone/>
                      </a:pPr>
                      <a:r>
                        <a:rPr lang="en-US" sz="1100" kern="1200" i="0" b="1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입력</a:t>
                      </a:r>
                      <a:endParaRPr lang="ko-KR" altLang="en-US" sz="1100" kern="1200" i="0" b="1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vl="1">
                        <a:buFontTx/>
                        <a:buNone/>
                      </a:pPr>
                      <a:r>
                        <a:rPr lang="en-US" sz="1100" kern="1200" i="0" b="1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출력</a:t>
                      </a:r>
                      <a:endParaRPr lang="ko-KR" altLang="en-US" sz="1100" kern="1200" i="0" b="1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vl="1">
                        <a:buFontTx/>
                        <a:buNone/>
                      </a:pPr>
                      <a:r>
                        <a:rPr lang="en-US" sz="1100" kern="1200" i="0" b="1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상태</a:t>
                      </a:r>
                      <a:endParaRPr lang="ko-KR" altLang="en-US" sz="1100" kern="1200" i="0" b="1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75945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1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PyMuPDF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PDF file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page text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library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5945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2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Paragraph chunking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page text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paragraph chunks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rule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5945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3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TF-IDF + MiniLM retrieval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chunks + theme queries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top evidence fragments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hybrid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5945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4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all-MiniLM-L6-v2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evidence paragraph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384-d semantic vector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frozen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5945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5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Logistic Regression head ×4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384-d vector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theme probability scores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few-shot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5945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6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Signal decoder / OOD guard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4 scores + relevance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asset hint / mixed / OOD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rule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5945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7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Historical context join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report date + CSV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pre/post market windows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lang="en-US" sz="1100" kern="1200" i="0" b="0">
                          <a:solidFill>
                            <a:srgbClr val="111111"/>
                          </a:solidFill>
                          <a:latin typeface="나눔명조" charset="0"/>
                          <a:ea typeface="나눔명조" charset="0"/>
                          <a:cs typeface="Malgun Gothic" charset="0"/>
                        </a:rPr>
                        <a:t>analysis</a:t>
                      </a:r>
                      <a:endParaRPr lang="ko-KR" altLang="en-US" sz="1100" kern="1200" i="0" b="0">
                        <a:solidFill>
                          <a:srgbClr val="111111"/>
                        </a:solidFill>
                        <a:latin typeface="나눔명조" charset="0"/>
                        <a:ea typeface="나눔명조" charset="0"/>
                        <a:cs typeface="Malgun Gothic" charset="0"/>
                      </a:endParaRPr>
                    </a:p>
                  </a:txBody>
                  <a:tcPr marL="36195" marR="36195" marT="36195" marB="36195" anchor="t">
                    <a:lnL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11480" y="6565265"/>
            <a:ext cx="457263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Pipeline I/O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475720" y="6565265"/>
            <a:ext cx="32067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r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05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2" name="Text 12"/>
          <p:cNvSpPr txBox="1">
            <a:spLocks/>
          </p:cNvSpPr>
          <p:nvPr/>
        </p:nvSpPr>
        <p:spPr>
          <a:xfrm rot="0">
            <a:off x="591185" y="5858510"/>
            <a:ext cx="11101070" cy="3613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Gemini scope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Theme scores come from MiniLM embeddings + logistic heads. Gemini only summarizes evidence fragments into a short explanation and does not classify the report.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138795" cy="34798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21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3. 알고리즘 입력 및 최종 결과</a:t>
            </a:r>
            <a:endParaRPr lang="ko-KR" altLang="en-US" sz="21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713105"/>
            <a:ext cx="9601835" cy="20193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82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웹 화면을 기준으로 입력값이 어떤 산출물로 바뀌는지 확인할 수 있습니다.</a:t>
            </a:r>
            <a:endParaRPr lang="ko-KR" altLang="en-US" sz="82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987425"/>
            <a:ext cx="11293475" cy="635"/>
          </a:xfrm>
          <a:prstGeom prst="line">
            <a:avLst/>
          </a:prstGeom>
          <a:noFill/>
          <a:ln w="7620">
            <a:solidFill>
              <a:srgbClr val="BDBDB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>
            <a:spLocks/>
          </p:cNvSpPr>
          <p:nvPr/>
        </p:nvSpPr>
        <p:spPr>
          <a:xfrm rot="0">
            <a:off x="413385" y="1169670"/>
            <a:ext cx="915670" cy="18415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105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Input</a:t>
            </a:r>
            <a:endParaRPr lang="ko-KR" altLang="en-US" sz="105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1" name="Text 7"/>
          <p:cNvSpPr>
            <a:spLocks/>
          </p:cNvSpPr>
          <p:nvPr/>
        </p:nvSpPr>
        <p:spPr>
          <a:xfrm rot="0">
            <a:off x="824865" y="1200785"/>
            <a:ext cx="3933190" cy="202565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85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입력: PDF, 보고서 제목, 발행기관, 보고서 날짜</a:t>
            </a:r>
            <a:endParaRPr lang="ko-KR" altLang="en-US" sz="850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2" name="Text 8"/>
          <p:cNvSpPr>
            <a:spLocks/>
          </p:cNvSpPr>
          <p:nvPr/>
        </p:nvSpPr>
        <p:spPr>
          <a:xfrm rot="0">
            <a:off x="6096000" y="1170305"/>
            <a:ext cx="5638165" cy="422275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 algn="l">
              <a:buFontTx/>
              <a:buNone/>
            </a:pPr>
            <a:r>
              <a:rPr sz="1000" b="0">
                <a:solidFill>
                  <a:schemeClr val="tx1"/>
                </a:solidFill>
                <a:latin typeface="나눔명조" charset="0"/>
                <a:ea typeface="나눔명조" charset="0"/>
              </a:rPr>
              <a:t>Output payload includes top theme, theme score vector, separation margin, OOD flag, mixed-report flag, evidence paragraphs, and theme-linked sector context.</a:t>
            </a:r>
            <a:endParaRPr lang="ko-KR" altLang="en-US" sz="1000" b="0">
              <a:solidFill>
                <a:schemeClr val="tx1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1480" y="6565265"/>
            <a:ext cx="457263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Input and output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475720" y="6565265"/>
            <a:ext cx="32067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r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06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pic>
        <p:nvPicPr>
          <p:cNvPr id="16" name="그림 4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0" t="18722" r="59072" b="23311"/>
          <a:stretch>
            <a:fillRect/>
          </a:stretch>
        </p:blipFill>
        <p:spPr>
          <a:xfrm rot="0">
            <a:off x="411480" y="1403350"/>
            <a:ext cx="2535555" cy="2311400"/>
          </a:xfrm>
          <a:prstGeom prst="rect"/>
          <a:noFill/>
        </p:spPr>
      </p:pic>
      <p:pic>
        <p:nvPicPr>
          <p:cNvPr id="17" name="그림 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23" t="21993" r="2125" b="22740"/>
          <a:stretch>
            <a:fillRect/>
          </a:stretch>
        </p:blipFill>
        <p:spPr>
          <a:xfrm>
            <a:off x="116205" y="4046220"/>
            <a:ext cx="5807075" cy="2680335"/>
          </a:xfrm>
          <a:prstGeom prst="rect"/>
          <a:noFill/>
        </p:spPr>
      </p:pic>
      <p:pic>
        <p:nvPicPr>
          <p:cNvPr id="18" name="그림 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19" r="1583" b="8740"/>
          <a:stretch>
            <a:fillRect/>
          </a:stretch>
        </p:blipFill>
        <p:spPr>
          <a:xfrm>
            <a:off x="6054090" y="2232025"/>
            <a:ext cx="5922010" cy="4464050"/>
          </a:xfrm>
          <a:prstGeom prst="rect"/>
          <a:noFill/>
        </p:spPr>
      </p:pic>
      <p:sp>
        <p:nvSpPr>
          <p:cNvPr id="19" name="텍스트 상자 3"/>
          <p:cNvSpPr txBox="1">
            <a:spLocks/>
          </p:cNvSpPr>
          <p:nvPr/>
        </p:nvSpPr>
        <p:spPr>
          <a:xfrm rot="0">
            <a:off x="5987415" y="1675765"/>
            <a:ext cx="6254750" cy="55435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sz="1000" b="0">
                <a:solidFill>
                  <a:schemeClr val="tx1"/>
                </a:solidFill>
                <a:latin typeface="나눔명조" charset="0"/>
                <a:ea typeface="나눔명조" charset="0"/>
              </a:rPr>
              <a:t>Decision rules</a:t>
            </a:r>
            <a:endParaRPr lang="ko-KR" altLang="en-US" sz="1000" b="0">
              <a:solidFill>
                <a:schemeClr val="tx1"/>
              </a:solidFill>
              <a:latin typeface="나눔명조" charset="0"/>
              <a:ea typeface="나눔명조" charset="0"/>
            </a:endParaRPr>
          </a:p>
          <a:p>
            <a:pPr marL="0" indent="0" algn="l">
              <a:buFontTx/>
              <a:buNone/>
            </a:pPr>
            <a:r>
              <a:rPr sz="1000" b="0">
                <a:solidFill>
                  <a:schemeClr val="tx1"/>
                </a:solidFill>
                <a:latin typeface="나눔명조" charset="0"/>
                <a:ea typeface="나눔명조" charset="0"/>
              </a:rPr>
              <a:t>Mixed if top-two margin &lt;= 0.10 and second score &gt;= 0.80. OOD if energy relevance &lt; 0.35; low relevance if &lt; 0.55. Scores are uncalibrated review signals.</a:t>
            </a:r>
            <a:endParaRPr lang="ko-KR" altLang="en-US" sz="1000" b="0">
              <a:solidFill>
                <a:schemeClr val="tx1"/>
              </a:solidFill>
              <a:latin typeface="나눔명조" charset="0"/>
              <a:ea typeface="나눔명조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138795" cy="34798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21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최종 결과: 근거 문단과 과거 시장 맥락을 함께 제시</a:t>
            </a:r>
            <a:endParaRPr lang="ko-KR" altLang="en-US" sz="21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713105"/>
            <a:ext cx="9601835" cy="20193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82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점수만 보여주지 않고 evidence fragment와 historical window를 함께 제공합니다.</a:t>
            </a:r>
            <a:endParaRPr lang="ko-KR" altLang="en-US" sz="82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987425"/>
            <a:ext cx="11293475" cy="635"/>
          </a:xfrm>
          <a:prstGeom prst="line">
            <a:avLst/>
          </a:prstGeom>
          <a:noFill/>
          <a:ln w="7620">
            <a:solidFill>
              <a:srgbClr val="BDBDBD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>
            <a:spLocks/>
          </p:cNvSpPr>
          <p:nvPr/>
        </p:nvSpPr>
        <p:spPr>
          <a:xfrm>
            <a:off x="412750" y="1219200"/>
            <a:ext cx="5441950" cy="18415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72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Evidence fragments: page/chunk ID와 판단 근거 문단을 함께 제시</a:t>
            </a:r>
            <a:endParaRPr lang="ko-KR" altLang="en-US" sz="72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0" name="Text 6"/>
          <p:cNvSpPr>
            <a:spLocks/>
          </p:cNvSpPr>
          <p:nvPr/>
        </p:nvSpPr>
        <p:spPr>
          <a:xfrm>
            <a:off x="9421495" y="3862070"/>
            <a:ext cx="5259070" cy="18415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72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Historical stock window: 보고서 날짜 주변 과거 수익률 확인</a:t>
            </a:r>
            <a:endParaRPr lang="ko-KR" altLang="en-US" sz="72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1" name="Text 7"/>
          <p:cNvSpPr>
            <a:spLocks/>
          </p:cNvSpPr>
          <p:nvPr/>
        </p:nvSpPr>
        <p:spPr>
          <a:xfrm rot="0">
            <a:off x="7138670" y="1477010"/>
            <a:ext cx="1007745" cy="20320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10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해석 방식</a:t>
            </a:r>
            <a:endParaRPr lang="ko-KR" altLang="en-US" sz="10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2" name="Text 8"/>
          <p:cNvSpPr>
            <a:spLocks/>
          </p:cNvSpPr>
          <p:nvPr/>
        </p:nvSpPr>
        <p:spPr>
          <a:xfrm rot="0">
            <a:off x="7136765" y="1678940"/>
            <a:ext cx="4572635" cy="61341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20000"/>
          </a:bodyPr>
          <a:lstStyle/>
          <a:p>
            <a:pPr marL="0" indent="0">
              <a:buFontTx/>
              <a:buNone/>
            </a:pPr>
            <a:r>
              <a:rPr sz="1100">
                <a:latin typeface="나눔명조" charset="0"/>
                <a:ea typeface="나눔명조" charset="0"/>
              </a:rPr>
              <a:t>Evidence fragments는 모델이 왜 해당 theme score를 높게 판단했는지 확인하기 위한 근거이며, historical window는 모델 예측에 사용되지 않고 사후적으로 연결한 과거 맥락입니다.</a:t>
            </a:r>
            <a:endParaRPr lang="ko-KR" altLang="en-US" sz="1100">
              <a:latin typeface="나눔명조" charset="0"/>
              <a:ea typeface="나눔명조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1480" y="6565265"/>
            <a:ext cx="457263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Evidence and historical context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475720" y="6565265"/>
            <a:ext cx="32067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r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07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pic>
        <p:nvPicPr>
          <p:cNvPr id="17" name="그림 10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1567" r="1979" b="50204"/>
          <a:stretch>
            <a:fillRect/>
          </a:stretch>
        </p:blipFill>
        <p:spPr>
          <a:xfrm rot="0">
            <a:off x="410845" y="1366520"/>
            <a:ext cx="6169660" cy="2559050"/>
          </a:xfrm>
          <a:prstGeom prst="rect"/>
          <a:noFill/>
        </p:spPr>
      </p:pic>
      <p:pic>
        <p:nvPicPr>
          <p:cNvPr id="18" name="그림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7" t="49473" r="1630" b="2525"/>
          <a:stretch>
            <a:fillRect/>
          </a:stretch>
        </p:blipFill>
        <p:spPr>
          <a:xfrm>
            <a:off x="5055870" y="4003675"/>
            <a:ext cx="6926580" cy="275272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139430" cy="34861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2200" b="1">
                <a:solidFill>
                  <a:srgbClr val="20302C"/>
                </a:solidFill>
                <a:latin typeface="나눔명조" charset="0"/>
                <a:ea typeface="나눔명조" charset="0"/>
              </a:rPr>
              <a:t>Pilot dominant-theme alignment evaluation</a:t>
            </a:r>
            <a:endParaRPr lang="ko-KR" altLang="en-US" sz="2200" b="1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713105"/>
            <a:ext cx="9602470" cy="20256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50 public-PDF pilot evaluation; measures dominant-theme top-1 alignment, not full multi-label generalization.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987425"/>
            <a:ext cx="11293475" cy="635"/>
          </a:xfrm>
          <a:prstGeom prst="line">
            <a:avLst/>
          </a:prstGeom>
          <a:noFill/>
          <a:ln w="7620">
            <a:solidFill>
              <a:srgbClr val="BDBDB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261745"/>
            <a:ext cx="1143635" cy="29337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9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17/50</a:t>
            </a:r>
            <a:endParaRPr lang="ko-KR" altLang="en-US" sz="19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572895"/>
            <a:ext cx="1143635" cy="16510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65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Zero-shot baseline</a:t>
            </a:r>
            <a:endParaRPr lang="ko-KR" altLang="en-US" sz="65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148840" y="1261745"/>
            <a:ext cx="1143635" cy="29337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900" b="1">
                <a:solidFill>
                  <a:srgbClr val="2E6B5C"/>
                </a:solidFill>
                <a:latin typeface="나눔명조" charset="0"/>
                <a:ea typeface="나눔명조" charset="0"/>
                <a:cs typeface="Malgun Gothic" charset="0"/>
              </a:rPr>
              <a:t>36/50</a:t>
            </a:r>
            <a:endParaRPr lang="ko-KR" altLang="en-US" sz="1900" b="1">
              <a:solidFill>
                <a:srgbClr val="2E6B5C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48840" y="1572895"/>
            <a:ext cx="1143635" cy="16510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t">
            <a:noAutofit/>
          </a:bodyPr>
          <a:lstStyle/>
          <a:p>
            <a:pPr algn="l"/>
            <a:r>
              <a:rPr sz="1000" b="0">
                <a:solidFill>
                  <a:srgbClr val="20302C"/>
                </a:solidFill>
                <a:latin typeface="Arial"/>
              </a:rPr>
              <a:t>Linear probe</a:t>
            </a:r>
          </a:p>
        </p:txBody>
      </p:sp>
      <p:sp>
        <p:nvSpPr>
          <p:cNvPr id="9" name="Text 7"/>
          <p:cNvSpPr/>
          <p:nvPr/>
        </p:nvSpPr>
        <p:spPr>
          <a:xfrm>
            <a:off x="3474720" y="1261745"/>
            <a:ext cx="1143635" cy="29337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900" b="1">
                <a:solidFill>
                  <a:srgbClr val="B9792B"/>
                </a:solidFill>
                <a:latin typeface="나눔명조" charset="0"/>
                <a:ea typeface="나눔명조" charset="0"/>
                <a:cs typeface="Malgun Gothic" charset="0"/>
              </a:rPr>
              <a:t>+38p</a:t>
            </a:r>
            <a:endParaRPr lang="ko-KR" altLang="en-US" sz="1900" b="1">
              <a:solidFill>
                <a:srgbClr val="B9792B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0" y="1572895"/>
            <a:ext cx="1143635" cy="16510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65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match improvement</a:t>
            </a:r>
            <a:endParaRPr lang="ko-KR" altLang="en-US" sz="65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0600" y="1261745"/>
            <a:ext cx="1143635" cy="29337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9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0.720</a:t>
            </a:r>
            <a:endParaRPr lang="ko-KR" altLang="en-US" sz="19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00600" y="1572895"/>
            <a:ext cx="1143635" cy="16510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65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Accuracy</a:t>
            </a:r>
            <a:endParaRPr lang="ko-KR" altLang="en-US" sz="65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26480" y="1261745"/>
            <a:ext cx="1143635" cy="29337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9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0.658</a:t>
            </a:r>
            <a:endParaRPr lang="ko-KR" altLang="en-US" sz="19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26480" y="1572895"/>
            <a:ext cx="1143635" cy="16510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65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Macro-F1</a:t>
            </a:r>
            <a:endParaRPr lang="ko-KR" altLang="en-US" sz="65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52360" y="1261745"/>
            <a:ext cx="1143635" cy="29337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9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0.703</a:t>
            </a:r>
            <a:endParaRPr lang="ko-KR" altLang="en-US" sz="19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52360" y="1572895"/>
            <a:ext cx="1143635" cy="16510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65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Weighted-F1</a:t>
            </a:r>
            <a:endParaRPr lang="ko-KR" altLang="en-US" sz="65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pic>
        <p:nvPicPr>
          <p:cNvPr id="18" name="Image 0" descr="C:/Users/이준서/AppData/Roaming/PolarisOffice/ETemp/14292_9359400/image-8-1.png"/>
          <p:cNvPicPr>
            <a:picLocks noChangeAspect="1"/>
          </p:cNvPicPr>
          <p:nvPr/>
        </p:nvPicPr>
        <p:blipFill rotWithShape="1">
          <a:blip r:embed="rId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6" b="255"/>
          <a:stretch>
            <a:fillRect/>
          </a:stretch>
        </p:blipFill>
        <p:spPr>
          <a:xfrm rot="0">
            <a:off x="622300" y="1965325"/>
            <a:ext cx="4381500" cy="2409825"/>
          </a:xfrm>
          <a:prstGeom prst="rect"/>
          <a:noFill/>
        </p:spPr>
      </p:pic>
      <p:sp>
        <p:nvSpPr>
          <p:cNvPr id="22" name="Text 18"/>
          <p:cNvSpPr>
            <a:spLocks/>
          </p:cNvSpPr>
          <p:nvPr/>
        </p:nvSpPr>
        <p:spPr>
          <a:xfrm rot="0">
            <a:off x="6123940" y="4187190"/>
            <a:ext cx="5396865" cy="184785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 algn="l">
              <a:buFontTx/>
              <a:buNone/>
            </a:pPr>
            <a:r>
              <a:rPr sz="800" b="0">
                <a:solidFill>
                  <a:schemeClr val="bg1">
                    <a:lumMod val="50000"/>
                    <a:lumOff val="0"/>
                  </a:schemeClr>
                </a:solidFill>
                <a:latin typeface="나눔명조" charset="0"/>
                <a:ea typeface="나눔명조" charset="0"/>
              </a:rPr>
              <a:t>Zero-shot vs supervised linear probe validation table</a:t>
            </a:r>
            <a:endParaRPr lang="ko-KR" altLang="en-US" sz="800" b="0">
              <a:solidFill>
                <a:schemeClr val="bg1">
                  <a:lumMod val="50000"/>
                  <a:lumOff val="0"/>
                </a:schemeClr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23" name="Text 19"/>
          <p:cNvSpPr>
            <a:spLocks/>
          </p:cNvSpPr>
          <p:nvPr/>
        </p:nvSpPr>
        <p:spPr>
          <a:xfrm rot="0">
            <a:off x="492125" y="4678680"/>
            <a:ext cx="11126470" cy="650875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20000"/>
          </a:bodyPr>
          <a:lstStyle/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Interpretation: evaluated 50 public PDFs from the validation catalog. Metric is top-1 match between the human reference dominant theme and the model top theme. Zero-shot 17/50 -&gt; supervised linear probe 36/50, showing adaptation direction but not a generalization claim.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11480" y="6565265"/>
            <a:ext cx="457263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Evaluation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11475720" y="6565265"/>
            <a:ext cx="32067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r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08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pic>
        <p:nvPicPr>
          <p:cNvPr id="26" name="그림 2" descr="C:/Users/이준서/AppData/Roaming/PolarisOffice/ETemp/14292_9359400/fImage118528620341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126480" y="1996440"/>
            <a:ext cx="5146675" cy="217043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138795" cy="34798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21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뉴스 tone과 시장 window는 탐색적 맥락 분석으로 사용</a:t>
            </a:r>
            <a:endParaRPr lang="ko-KR" altLang="en-US" sz="21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3" name="Text 1"/>
          <p:cNvSpPr>
            <a:spLocks/>
          </p:cNvSpPr>
          <p:nvPr/>
        </p:nvSpPr>
        <p:spPr>
          <a:xfrm rot="0">
            <a:off x="411480" y="713105"/>
            <a:ext cx="11279505" cy="20256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11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After theme scoring, the app joins news and historical stock-return windows to make the context auditable. This bridge is downstream context, not an input feature for classification.</a:t>
            </a:r>
            <a:endParaRPr lang="ko-KR" altLang="en-US" sz="11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987425"/>
            <a:ext cx="11293475" cy="635"/>
          </a:xfrm>
          <a:prstGeom prst="line">
            <a:avLst/>
          </a:prstGeom>
          <a:noFill/>
          <a:ln w="7620">
            <a:solidFill>
              <a:srgbClr val="BDBDBD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>
            <a:spLocks/>
          </p:cNvSpPr>
          <p:nvPr/>
        </p:nvSpPr>
        <p:spPr>
          <a:xfrm rot="0">
            <a:off x="1101090" y="4324985"/>
            <a:ext cx="3841750" cy="18415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72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Time series: climate anomaly, news tone, market indicators</a:t>
            </a:r>
            <a:endParaRPr lang="ko-KR" altLang="en-US" sz="72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0" name="Text 6"/>
          <p:cNvSpPr>
            <a:spLocks/>
          </p:cNvSpPr>
          <p:nvPr/>
        </p:nvSpPr>
        <p:spPr>
          <a:xfrm rot="0">
            <a:off x="5251450" y="4415790"/>
            <a:ext cx="2927985" cy="184785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72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Lag heatmap: news tone → market returns</a:t>
            </a:r>
            <a:endParaRPr lang="ko-KR" altLang="en-US" sz="72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3" name="Text 8"/>
          <p:cNvSpPr>
            <a:spLocks/>
          </p:cNvSpPr>
          <p:nvPr/>
        </p:nvSpPr>
        <p:spPr>
          <a:xfrm rot="0">
            <a:off x="8892540" y="4366895"/>
            <a:ext cx="3978910" cy="18415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 algn="l">
              <a:buFontTx/>
              <a:buNone/>
            </a:pPr>
            <a:r>
              <a:rPr sz="700" b="0">
                <a:solidFill>
                  <a:schemeClr val="bg1">
                    <a:lumMod val="50000"/>
                    <a:lumOff val="0"/>
                  </a:schemeClr>
                </a:solidFill>
                <a:latin typeface="나눔명조" charset="0"/>
                <a:ea typeface="나눔명조" charset="0"/>
              </a:rPr>
              <a:t>Exploratory lag correlation across predefined windows</a:t>
            </a:r>
            <a:endParaRPr lang="ko-KR" altLang="en-US" sz="700" b="0">
              <a:solidFill>
                <a:schemeClr val="bg1">
                  <a:lumMod val="50000"/>
                  <a:lumOff val="0"/>
                </a:schemeClr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15" name="Text 9"/>
          <p:cNvSpPr>
            <a:spLocks/>
          </p:cNvSpPr>
          <p:nvPr/>
        </p:nvSpPr>
        <p:spPr>
          <a:xfrm rot="0">
            <a:off x="413385" y="6229350"/>
            <a:ext cx="9693910" cy="202565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76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 p-value와 correlation은 통제변수와 실험 설계가 제한된 탐색 분석으로만 해석합니다.</a:t>
            </a:r>
            <a:endParaRPr lang="ko-KR" altLang="en-US" sz="76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411480" y="6565265"/>
            <a:ext cx="457263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Historical context analysis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1475720" y="6565265"/>
            <a:ext cx="32067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r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09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pic>
        <p:nvPicPr>
          <p:cNvPr id="18" name="그림 13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58445" y="1941830"/>
            <a:ext cx="4387215" cy="2190115"/>
          </a:xfrm>
          <a:prstGeom prst="rect"/>
          <a:noFill/>
        </p:spPr>
      </p:pic>
      <p:pic>
        <p:nvPicPr>
          <p:cNvPr id="19" name="그림 14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550" t="2590" r="8654" b="2459"/>
          <a:stretch>
            <a:fillRect/>
          </a:stretch>
        </p:blipFill>
        <p:spPr>
          <a:xfrm rot="0">
            <a:off x="4601845" y="1819910"/>
            <a:ext cx="3025775" cy="2547620"/>
          </a:xfrm>
          <a:prstGeom prst="rect"/>
          <a:noFill/>
        </p:spPr>
      </p:pic>
      <p:pic>
        <p:nvPicPr>
          <p:cNvPr id="20" name="그림 15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3" r="723"/>
          <a:stretch>
            <a:fillRect/>
          </a:stretch>
        </p:blipFill>
        <p:spPr>
          <a:xfrm rot="0">
            <a:off x="7656830" y="1609090"/>
            <a:ext cx="4458335" cy="2691765"/>
          </a:xfrm>
          <a:prstGeom prst="rect"/>
          <a:noFill/>
        </p:spPr>
      </p:pic>
      <p:sp>
        <p:nvSpPr>
          <p:cNvPr id="21" name="Text 21"/>
          <p:cNvSpPr txBox="1">
            <a:spLocks/>
          </p:cNvSpPr>
          <p:nvPr/>
        </p:nvSpPr>
        <p:spPr>
          <a:xfrm rot="0">
            <a:off x="501015" y="4725035"/>
            <a:ext cx="11101070" cy="7677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Market context scope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News snippets and stock windows help reviewers compare report timing with public market context. 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They do not convert the theme score into a forecast or investment recommendation.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138795" cy="34798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21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실패 분석과 향후 개선</a:t>
            </a:r>
            <a:endParaRPr lang="ko-KR" altLang="en-US" sz="21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713105"/>
            <a:ext cx="9601835" cy="201930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82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실제 사례를 공개하고, mixed-signal PDF와 OOD 한계를 개선 과제로 정리했습니다.</a:t>
            </a:r>
            <a:endParaRPr lang="ko-KR" altLang="en-US" sz="82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987425"/>
            <a:ext cx="11293475" cy="635"/>
          </a:xfrm>
          <a:prstGeom prst="line">
            <a:avLst/>
          </a:prstGeom>
          <a:noFill/>
          <a:ln w="7620">
            <a:solidFill>
              <a:srgbClr val="BDBDBD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>
            <a:spLocks/>
          </p:cNvSpPr>
          <p:nvPr/>
        </p:nvSpPr>
        <p:spPr>
          <a:xfrm rot="0">
            <a:off x="412750" y="3963035"/>
            <a:ext cx="5624830" cy="18415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720">
                <a:solidFill>
                  <a:srgbClr val="666666"/>
                </a:solidFill>
                <a:latin typeface="나눔명조" charset="0"/>
                <a:ea typeface="나눔명조" charset="0"/>
                <a:cs typeface="Malgun Gothic" charset="0"/>
              </a:rPr>
              <a:t>Failure analysis / OOD controls</a:t>
            </a:r>
            <a:endParaRPr lang="ko-KR" altLang="en-US" sz="720">
              <a:solidFill>
                <a:srgbClr val="666666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8" name="Text 5"/>
          <p:cNvSpPr>
            <a:spLocks/>
          </p:cNvSpPr>
          <p:nvPr/>
        </p:nvSpPr>
        <p:spPr>
          <a:xfrm rot="0">
            <a:off x="411480" y="4233545"/>
            <a:ext cx="2196465" cy="24257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11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대표 실패 원인</a:t>
            </a:r>
            <a:endParaRPr lang="ko-KR" altLang="en-US" sz="11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9" name="Text 6"/>
          <p:cNvSpPr>
            <a:spLocks/>
          </p:cNvSpPr>
          <p:nvPr/>
        </p:nvSpPr>
        <p:spPr>
          <a:xfrm rot="0">
            <a:off x="368935" y="4460875"/>
            <a:ext cx="4848225" cy="104140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11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• WEO, 배터리, EV 보고서처럼 여러 테마가 동시에 등장</a:t>
            </a:r>
            <a:endParaRPr lang="ko-KR" altLang="en-US" sz="1100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  <a:p>
            <a:pPr marL="0" indent="0">
              <a:buFontTx/>
              <a:buNone/>
            </a:pPr>
            <a:r>
              <a:rPr lang="en-US" sz="11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• Exxon ACS 문서처럼 climate risk와 fossil transition pressure가 겹침</a:t>
            </a:r>
            <a:endParaRPr lang="ko-KR" altLang="en-US" sz="1100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  <a:p>
            <a:pPr marL="0" indent="0">
              <a:buFontTx/>
              <a:buNone/>
            </a:pPr>
            <a:r>
              <a:rPr lang="en-US" sz="11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• WHO 보건 문서처럼 climate-health 표현이 OOD false-positive를 유발</a:t>
            </a:r>
            <a:endParaRPr lang="ko-KR" altLang="en-US" sz="1100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1" name="Text 8"/>
          <p:cNvSpPr>
            <a:spLocks/>
          </p:cNvSpPr>
          <p:nvPr/>
        </p:nvSpPr>
        <p:spPr>
          <a:xfrm rot="0">
            <a:off x="5473700" y="4230370"/>
            <a:ext cx="2013585" cy="24257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1100" b="1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향후 개선</a:t>
            </a:r>
            <a:endParaRPr lang="ko-KR" altLang="en-US" sz="1100" b="1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2" name="Text 9"/>
          <p:cNvSpPr>
            <a:spLocks/>
          </p:cNvSpPr>
          <p:nvPr/>
        </p:nvSpPr>
        <p:spPr>
          <a:xfrm rot="0">
            <a:off x="5461000" y="4432935"/>
            <a:ext cx="6490970" cy="932180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 sz="11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• PDF 수 100개 이상</a:t>
            </a:r>
            <a:r>
              <a:rPr lang="ko-KR" sz="11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으로</a:t>
            </a:r>
            <a:r>
              <a:rPr lang="ko-KR" sz="11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 </a:t>
            </a:r>
            <a:r>
              <a:rPr lang="ko-KR" sz="11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확장하고, 기관/연도/theme 별로 균형있게 수집</a:t>
            </a:r>
            <a:endParaRPr lang="ko-KR" altLang="en-US" sz="1100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  <a:p>
            <a:pPr marL="0" indent="0">
              <a:buFontTx/>
              <a:buNone/>
            </a:pPr>
            <a:r>
              <a:rPr lang="en-US" sz="11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• 문단 단위 multi-label ground truth</a:t>
            </a:r>
            <a:r>
              <a:rPr lang="ko-KR" sz="11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를</a:t>
            </a:r>
            <a:r>
              <a:rPr lang="en-US" sz="11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 구축</a:t>
            </a:r>
            <a:r>
              <a:rPr lang="ko-KR" sz="11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하여 mixed-signal PDF를 하나의 정답이 아닌 복수 theme 문제로 평가</a:t>
            </a:r>
            <a:endParaRPr lang="ko-KR" altLang="en-US" sz="1100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  <a:p>
            <a:pPr marL="0" indent="0">
              <a:buFontTx/>
              <a:buNone/>
            </a:pPr>
            <a:r>
              <a:rPr lang="en-US" sz="11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• energy-domain OOD reject classifier 추가</a:t>
            </a:r>
            <a:endParaRPr lang="ko-KR" altLang="en-US" sz="1100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  <a:p>
            <a:pPr marL="0" indent="0">
              <a:buFontTx/>
              <a:buNone/>
            </a:pPr>
            <a:r>
              <a:rPr lang="en-US" sz="1100">
                <a:solidFill>
                  <a:srgbClr val="111111"/>
                </a:solidFill>
                <a:latin typeface="나눔명조" charset="0"/>
                <a:ea typeface="나눔명조" charset="0"/>
                <a:cs typeface="Malgun Gothic" charset="0"/>
              </a:rPr>
              <a:t>• 더 체계적인 event study 설계</a:t>
            </a:r>
            <a:endParaRPr lang="ko-KR" altLang="en-US" sz="1100">
              <a:solidFill>
                <a:srgbClr val="111111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4" name="Text 11"/>
          <p:cNvSpPr>
            <a:spLocks/>
          </p:cNvSpPr>
          <p:nvPr/>
        </p:nvSpPr>
        <p:spPr>
          <a:xfrm rot="0">
            <a:off x="595630" y="5672455"/>
            <a:ext cx="11011535" cy="817245"/>
          </a:xfrm>
          <a:prstGeom prst="rect"/>
          <a:noFill/>
          <a:ln cap="flat" cmpd="sng">
            <a:prstDash/>
          </a:ln>
        </p:spPr>
        <p:txBody>
          <a:bodyPr wrap="square" lIns="635" tIns="635" rIns="635" bIns="635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1200" b="0">
                <a:solidFill>
                  <a:srgbClr val="20302C"/>
                </a:solidFill>
                <a:latin typeface="나눔명조" charset="0"/>
                <a:ea typeface="나눔명조" charset="0"/>
              </a:rPr>
              <a:t>This project implements an evidence-grounded PDF analysis pipeline: frozen MiniLM embeddings retrieve relevant paragraphs; independent logistic heads estimate topic salience; rule-based OOD and mixed checks prevent overclaiming; Gemini summarizes only the retrieved evidence; and historical market data is attached as context. The 50-PDF pilot shows improved dominant-theme alignment, but the result should be presented as few-sample adaptation evidence, not a full generalization benchmark or investment signal.</a:t>
            </a:r>
            <a:endParaRPr lang="ko-KR" altLang="en-US" sz="1200" b="0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11480" y="6565265"/>
            <a:ext cx="457263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Limitations and conclusion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475720" y="6565265"/>
            <a:ext cx="320675" cy="12890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r">
              <a:buFontTx/>
              <a:buNone/>
            </a:pPr>
            <a:r>
              <a:rPr lang="en-US" sz="550">
                <a:solidFill>
                  <a:srgbClr val="777777"/>
                </a:solidFill>
                <a:latin typeface="나눔명조" charset="0"/>
                <a:ea typeface="나눔명조" charset="0"/>
                <a:cs typeface="Malgun Gothic" charset="0"/>
              </a:rPr>
              <a:t>10</a:t>
            </a:r>
            <a:endParaRPr lang="ko-KR" altLang="en-US" sz="550">
              <a:solidFill>
                <a:srgbClr val="777777"/>
              </a:solidFill>
              <a:latin typeface="나눔명조" charset="0"/>
              <a:ea typeface="나눔명조" charset="0"/>
              <a:cs typeface="Malgun Gothic" charset="0"/>
            </a:endParaRPr>
          </a:p>
        </p:txBody>
      </p:sp>
      <p:pic>
        <p:nvPicPr>
          <p:cNvPr id="18" name="그림 16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39" t="875" r="1536" b="7059"/>
          <a:stretch>
            <a:fillRect/>
          </a:stretch>
        </p:blipFill>
        <p:spPr>
          <a:xfrm rot="0">
            <a:off x="412115" y="1057910"/>
            <a:ext cx="10414000" cy="281940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3732530" cy="461010"/>
          </a:xfrm>
          <a:prstGeom prst="rect">
            <a:avLst/>
          </a:prstGeom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sz="2400" b="1">
                <a:solidFill>
                  <a:srgbClr val="20302C"/>
                </a:solidFill>
                <a:latin typeface="나눔명조" charset="0"/>
                <a:ea typeface="나눔명조" charset="0"/>
              </a:rPr>
              <a:t>구현 </a:t>
            </a:r>
            <a:r>
              <a:rPr sz="2400" b="1">
                <a:solidFill>
                  <a:srgbClr val="20302C"/>
                </a:solidFill>
                <a:latin typeface="나눔명조" charset="0"/>
                <a:ea typeface="나눔명조" charset="0"/>
              </a:rPr>
              <a:t>세부사항 및 </a:t>
            </a:r>
            <a:r>
              <a:rPr lang="ko-KR" sz="2400" b="1">
                <a:solidFill>
                  <a:srgbClr val="20302C"/>
                </a:solidFill>
                <a:latin typeface="나눔명조" charset="0"/>
                <a:ea typeface="나눔명조" charset="0"/>
              </a:rPr>
              <a:t>평가 </a:t>
            </a:r>
            <a:r>
              <a:rPr lang="ko-KR" sz="2400" b="1">
                <a:solidFill>
                  <a:srgbClr val="20302C"/>
                </a:solidFill>
                <a:latin typeface="나눔명조" charset="0"/>
                <a:ea typeface="나눔명조" charset="0"/>
              </a:rPr>
              <a:t>범위</a:t>
            </a:r>
            <a:endParaRPr lang="ko-KR" altLang="en-US" sz="2400" b="1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 rot="0">
            <a:off x="411480" y="695325"/>
            <a:ext cx="9327515" cy="24574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sz="1000">
                <a:solidFill>
                  <a:srgbClr val="5B6761"/>
                </a:solidFill>
                <a:latin typeface="나눔명조" charset="0"/>
                <a:ea typeface="나눔명조" charset="0"/>
              </a:rPr>
              <a:t>Use this slide to answer where learning happens, what the foundation model does, and what the pilot numbers mean.</a:t>
            </a:r>
            <a:endParaRPr lang="ko-KR" altLang="en-US" sz="1000">
              <a:solidFill>
                <a:srgbClr val="5B6761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4" name="Rounded Rectangle 3"/>
          <p:cNvSpPr>
            <a:spLocks/>
          </p:cNvSpPr>
          <p:nvPr/>
        </p:nvSpPr>
        <p:spPr>
          <a:xfrm rot="0">
            <a:off x="980440" y="1938655"/>
            <a:ext cx="3063875" cy="1299210"/>
          </a:xfrm>
          <a:prstGeom prst="roundRect"/>
          <a:solidFill>
            <a:srgbClr val="FFFFFF"/>
          </a:solidFill>
          <a:ln w="12700" cap="flat" cmpd="sng">
            <a:solidFill>
              <a:srgbClr val="D2C9B8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270" tIns="91440" rIns="128270" bIns="9144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주제</a:t>
            </a:r>
            <a:r>
              <a:rPr lang="ko-KR"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 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점수</a:t>
            </a:r>
            <a:r>
              <a:rPr lang="ko-KR"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 </a:t>
            </a:r>
            <a:r>
              <a:rPr lang="ko-KR"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(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Theme score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)</a:t>
            </a:r>
            <a:endParaRPr lang="ko-KR" altLang="en-US" sz="1400" b="1">
              <a:solidFill>
                <a:srgbClr val="347C65"/>
              </a:solidFill>
              <a:latin typeface="나눔명조" charset="0"/>
              <a:ea typeface="나눔명조" charset="0"/>
            </a:endParaRPr>
          </a:p>
          <a:p>
            <a:pPr marL="0" indent="0" algn="ctr">
              <a:buFontTx/>
              <a:buNone/>
            </a:pPr>
            <a:r>
              <a:rPr sz="1015">
                <a:solidFill>
                  <a:srgbClr val="20302C"/>
                </a:solidFill>
                <a:latin typeface="나눔명조" charset="0"/>
                <a:ea typeface="나눔명조" charset="0"/>
              </a:rPr>
              <a:t>Topic salience in retrieved evidence. It is not bullish/bearish direction and not an investment signal.</a:t>
            </a:r>
            <a:endParaRPr lang="ko-KR" altLang="en-US" sz="1015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5" name="Rounded Rectangle 4"/>
          <p:cNvSpPr>
            <a:spLocks/>
          </p:cNvSpPr>
          <p:nvPr/>
        </p:nvSpPr>
        <p:spPr>
          <a:xfrm rot="0">
            <a:off x="4546600" y="1938655"/>
            <a:ext cx="3063875" cy="1299210"/>
          </a:xfrm>
          <a:prstGeom prst="roundRect"/>
          <a:solidFill>
            <a:srgbClr val="FFFFFF"/>
          </a:solidFill>
          <a:ln w="12700" cap="flat" cmpd="sng">
            <a:solidFill>
              <a:srgbClr val="D2C9B8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270" tIns="91440" rIns="128270" bIns="9144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모델 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구조(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Model structure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)</a:t>
            </a:r>
            <a:endParaRPr lang="ko-KR" altLang="en-US" sz="1400" b="1">
              <a:solidFill>
                <a:srgbClr val="347C65"/>
              </a:solidFill>
              <a:latin typeface="나눔명조" charset="0"/>
              <a:ea typeface="나눔명조" charset="0"/>
            </a:endParaRPr>
          </a:p>
          <a:p>
            <a:pPr marL="0" indent="0">
              <a:spcBef>
                <a:spcPts val="500"/>
              </a:spcBef>
              <a:buFontTx/>
              <a:buNone/>
            </a:pPr>
            <a:r>
              <a:rPr sz="1015">
                <a:solidFill>
                  <a:srgbClr val="20302C"/>
                </a:solidFill>
                <a:latin typeface="나눔명조" charset="0"/>
                <a:ea typeface="나눔명조" charset="0"/>
              </a:rPr>
              <a:t>Foundation model: frozen MiniLM-L6-v2 paragraph embeddings. Learned part: four logistic regression heads.</a:t>
            </a:r>
            <a:endParaRPr lang="ko-KR" altLang="en-US" sz="1015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6" name="Rounded Rectangle 5"/>
          <p:cNvSpPr>
            <a:spLocks/>
          </p:cNvSpPr>
          <p:nvPr/>
        </p:nvSpPr>
        <p:spPr>
          <a:xfrm rot="0">
            <a:off x="8112760" y="1938655"/>
            <a:ext cx="3063875" cy="1299210"/>
          </a:xfrm>
          <a:prstGeom prst="roundRect"/>
          <a:solidFill>
            <a:srgbClr val="FFFFFF"/>
          </a:solidFill>
          <a:ln w="12700" cap="flat" cmpd="sng">
            <a:solidFill>
              <a:srgbClr val="D2C9B8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270" tIns="91440" rIns="128270" bIns="9144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학습 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데이터(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Training data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)</a:t>
            </a:r>
            <a:endParaRPr lang="ko-KR" altLang="en-US" sz="1400" b="1">
              <a:solidFill>
                <a:srgbClr val="347C65"/>
              </a:solidFill>
              <a:latin typeface="나눔명조" charset="0"/>
              <a:ea typeface="나눔명조" charset="0"/>
            </a:endParaRPr>
          </a:p>
          <a:p>
            <a:pPr marL="0" indent="0">
              <a:spcBef>
                <a:spcPts val="500"/>
              </a:spcBef>
              <a:buFontTx/>
              <a:buNone/>
            </a:pPr>
            <a:r>
              <a:rPr sz="1015">
                <a:solidFill>
                  <a:srgbClr val="20302C"/>
                </a:solidFill>
                <a:latin typeface="나눔명조" charset="0"/>
                <a:ea typeface="나눔명조" charset="0"/>
              </a:rPr>
              <a:t>Curated few-sample set: 33 positive theme examples and 8 negative examples. Only the heads are fitted.</a:t>
            </a:r>
            <a:endParaRPr lang="ko-KR" altLang="en-US" sz="1015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7" name="Rounded Rectangle 6"/>
          <p:cNvSpPr>
            <a:spLocks/>
          </p:cNvSpPr>
          <p:nvPr/>
        </p:nvSpPr>
        <p:spPr>
          <a:xfrm rot="0">
            <a:off x="980440" y="3694430"/>
            <a:ext cx="3063875" cy="1299210"/>
          </a:xfrm>
          <a:prstGeom prst="roundRect"/>
          <a:solidFill>
            <a:srgbClr val="FFFFFF"/>
          </a:solidFill>
          <a:ln w="12700" cap="flat" cmpd="sng">
            <a:solidFill>
              <a:srgbClr val="D2C9B8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270" tIns="91440" rIns="128270" bIns="9144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검색 </a:t>
            </a:r>
            <a:r>
              <a:rPr lang="ko-KR"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및 </a:t>
            </a:r>
            <a:r>
              <a:rPr lang="ko-KR"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점수화</a:t>
            </a:r>
            <a:endParaRPr lang="ko-KR" altLang="en-US" sz="1400" b="1">
              <a:solidFill>
                <a:srgbClr val="347C65"/>
              </a:solidFill>
              <a:latin typeface="나눔명조" charset="0"/>
              <a:ea typeface="나눔명조" charset="0"/>
            </a:endParaRPr>
          </a:p>
          <a:p>
            <a:pPr marL="0" indent="0" algn="ctr">
              <a:buFontTx/>
              <a:buNone/>
            </a:pPr>
            <a:r>
              <a:rPr lang="ko-KR"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(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Retrieval and scoring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)</a:t>
            </a:r>
            <a:endParaRPr lang="ko-KR" altLang="en-US" sz="1400" b="1">
              <a:solidFill>
                <a:srgbClr val="347C65"/>
              </a:solidFill>
              <a:latin typeface="나눔명조" charset="0"/>
              <a:ea typeface="나눔명조" charset="0"/>
            </a:endParaRPr>
          </a:p>
          <a:p>
            <a:pPr marL="0" indent="0">
              <a:spcBef>
                <a:spcPts val="500"/>
              </a:spcBef>
              <a:buFontTx/>
              <a:buNone/>
            </a:pPr>
            <a:r>
              <a:rPr sz="1015">
                <a:solidFill>
                  <a:srgbClr val="20302C"/>
                </a:solidFill>
                <a:latin typeface="나눔명조" charset="0"/>
                <a:ea typeface="나눔명조" charset="0"/>
              </a:rPr>
              <a:t>Theme-conditioned TF-IDF + MiniLM retrieval. For each theme, top 30% evidence probabilities are averaged.</a:t>
            </a:r>
            <a:endParaRPr lang="ko-KR" altLang="en-US" sz="1015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8" name="Rounded Rectangle 7"/>
          <p:cNvSpPr>
            <a:spLocks/>
          </p:cNvSpPr>
          <p:nvPr/>
        </p:nvSpPr>
        <p:spPr>
          <a:xfrm rot="0">
            <a:off x="4546600" y="3694430"/>
            <a:ext cx="3063875" cy="1299210"/>
          </a:xfrm>
          <a:prstGeom prst="roundRect"/>
          <a:solidFill>
            <a:srgbClr val="FFFFFF"/>
          </a:solidFill>
          <a:ln w="12700" cap="flat" cmpd="sng">
            <a:solidFill>
              <a:srgbClr val="D2C9B8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270" tIns="91440" rIns="128270" bIns="9144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평가 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범위(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Evaluation scope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)</a:t>
            </a:r>
            <a:endParaRPr lang="ko-KR" altLang="en-US" sz="1400" b="1">
              <a:solidFill>
                <a:srgbClr val="347C65"/>
              </a:solidFill>
              <a:latin typeface="나눔명조" charset="0"/>
              <a:ea typeface="나눔명조" charset="0"/>
            </a:endParaRPr>
          </a:p>
          <a:p>
            <a:pPr marL="0" indent="0">
              <a:spcBef>
                <a:spcPts val="500"/>
              </a:spcBef>
              <a:buFontTx/>
              <a:buNone/>
            </a:pPr>
            <a:r>
              <a:rPr sz="1015">
                <a:solidFill>
                  <a:srgbClr val="20302C"/>
                </a:solidFill>
                <a:latin typeface="나눔명조" charset="0"/>
                <a:ea typeface="나눔명조" charset="0"/>
              </a:rPr>
              <a:t>50 public PDFs. Reported accuracy/F1 are dominant-theme top-1 alignment metrics, not full multi-label generalization.</a:t>
            </a:r>
            <a:endParaRPr lang="ko-KR" altLang="en-US" sz="1015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9" name="Rounded Rectangle 8"/>
          <p:cNvSpPr>
            <a:spLocks/>
          </p:cNvSpPr>
          <p:nvPr/>
        </p:nvSpPr>
        <p:spPr>
          <a:xfrm rot="0">
            <a:off x="8112760" y="3694430"/>
            <a:ext cx="3063875" cy="1299210"/>
          </a:xfrm>
          <a:prstGeom prst="roundRect"/>
          <a:solidFill>
            <a:srgbClr val="FFFFFF"/>
          </a:solidFill>
          <a:ln w="12700" cap="flat" cmpd="sng">
            <a:solidFill>
              <a:srgbClr val="D2C9B8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270" tIns="91440" rIns="128270" bIns="9144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검토 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기준(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Review rules</a:t>
            </a:r>
            <a:r>
              <a:rPr sz="1400" b="1">
                <a:solidFill>
                  <a:srgbClr val="347C65"/>
                </a:solidFill>
                <a:latin typeface="나눔명조" charset="0"/>
                <a:ea typeface="나눔명조" charset="0"/>
              </a:rPr>
              <a:t>)</a:t>
            </a:r>
            <a:endParaRPr lang="ko-KR" altLang="en-US" sz="1400" b="1">
              <a:solidFill>
                <a:srgbClr val="347C65"/>
              </a:solidFill>
              <a:latin typeface="나눔명조" charset="0"/>
              <a:ea typeface="나눔명조" charset="0"/>
            </a:endParaRPr>
          </a:p>
          <a:p>
            <a:pPr marL="0" indent="0">
              <a:spcBef>
                <a:spcPts val="500"/>
              </a:spcBef>
              <a:buFontTx/>
              <a:buNone/>
            </a:pPr>
            <a:r>
              <a:rPr sz="1015">
                <a:solidFill>
                  <a:srgbClr val="20302C"/>
                </a:solidFill>
                <a:latin typeface="나눔명조" charset="0"/>
                <a:ea typeface="나눔명조" charset="0"/>
              </a:rPr>
              <a:t>Mixed: margin &lt;= 0.10 and second score &gt;= 0.80. OOD: energy relevance &lt; 0.35; low relevance &lt; 0.55.</a:t>
            </a:r>
            <a:endParaRPr lang="ko-KR" altLang="en-US" sz="1015">
              <a:solidFill>
                <a:srgbClr val="20302C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6217920"/>
            <a:ext cx="4389755" cy="215265"/>
          </a:xfrm>
          <a:prstGeom prst="rect">
            <a:avLst/>
          </a:prstGeom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sz="800">
                <a:solidFill>
                  <a:srgbClr val="5B6761"/>
                </a:solidFill>
                <a:latin typeface="나눔명조" charset="0"/>
                <a:ea typeface="나눔명조" charset="0"/>
              </a:rPr>
              <a:t>Implementation details</a:t>
            </a:r>
            <a:endParaRPr lang="ko-KR" altLang="en-US" sz="800">
              <a:solidFill>
                <a:srgbClr val="5B6761"/>
              </a:solidFill>
              <a:latin typeface="나눔명조" charset="0"/>
              <a:ea typeface="나눔명조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0" y="6217920"/>
            <a:ext cx="412115" cy="215265"/>
          </a:xfrm>
          <a:prstGeom prst="rect">
            <a:avLst/>
          </a:prstGeom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r">
              <a:buFontTx/>
              <a:buNone/>
            </a:pPr>
            <a:r>
              <a:rPr sz="800">
                <a:solidFill>
                  <a:srgbClr val="5B6761"/>
                </a:solidFill>
                <a:latin typeface="나눔명조" charset="0"/>
                <a:ea typeface="나눔명조" charset="0"/>
              </a:rPr>
              <a:t>10</a:t>
            </a:r>
            <a:endParaRPr lang="ko-KR" altLang="en-US" sz="800">
              <a:solidFill>
                <a:srgbClr val="5B6761"/>
              </a:solidFill>
              <a:latin typeface="나눔명조" charset="0"/>
              <a:ea typeface="나눔명조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OpenAI</Company>
  <DocSecurity>0</DocSecurity>
  <HyperlinksChanged>false</HyperlinksChanged>
  <Lines>0</Lines>
  <LinksUpToDate>false</LinksUpToDate>
  <Pages>10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OpenAI</dc:creator>
  <cp:lastModifiedBy>bluegirl148010</cp:lastModifiedBy>
  <dc:title>Energy Report-to-Market Context Analyzer</dc:title>
  <dc:subject>Energy Report Signal Analyzer</dc:subject>
  <cp:version>10.105.306.56235</cp:version>
  <dcterms:modified xsi:type="dcterms:W3CDTF">2026-06-04T06:54:34Z</dcterms:modified>
</cp:coreProperties>
</file>